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4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DM Sans Medium" panose="020B0604020202020204" charset="0"/>
      <p:regular r:id="rId17"/>
    </p:embeddedFont>
    <p:embeddedFont>
      <p:font typeface="Inter Bold" panose="020B0604020202020204" charset="0"/>
      <p:regular r:id="rId18"/>
    </p:embeddedFont>
    <p:embeddedFont>
      <p:font typeface="Calibri Light" panose="020F0302020204030204" pitchFamily="34" charset="0"/>
      <p:regular r:id="rId19"/>
      <p:italic r:id="rId20"/>
    </p:embeddedFont>
    <p:embeddedFont>
      <p:font typeface="Inter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6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0692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FA50-8D5C-4A82-B8E7-A64EF338367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7BE50-2D28-4F4A-8F59-1812301B7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88693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FA50-8D5C-4A82-B8E7-A64EF338367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7BE50-2D28-4F4A-8F59-1812301B7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64559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FA50-8D5C-4A82-B8E7-A64EF338367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7BE50-2D28-4F4A-8F59-1812301B7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05867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FA50-8D5C-4A82-B8E7-A64EF338367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7BE50-2D28-4F4A-8F59-1812301B7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99804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FA50-8D5C-4A82-B8E7-A64EF338367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7BE50-2D28-4F4A-8F59-1812301B7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5279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FA50-8D5C-4A82-B8E7-A64EF338367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7BE50-2D28-4F4A-8F59-1812301B7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46994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FA50-8D5C-4A82-B8E7-A64EF338367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7BE50-2D28-4F4A-8F59-1812301B7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6293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FA50-8D5C-4A82-B8E7-A64EF338367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7BE50-2D28-4F4A-8F59-1812301B7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03551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FA50-8D5C-4A82-B8E7-A64EF338367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7BE50-2D28-4F4A-8F59-1812301B7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71441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FA50-8D5C-4A82-B8E7-A64EF338367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7BE50-2D28-4F4A-8F59-1812301B7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04936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FA50-8D5C-4A82-B8E7-A64EF338367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7BE50-2D28-4F4A-8F59-1812301B7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02106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5782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09FA50-8D5C-4A82-B8E7-A64EF338367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7BE50-2D28-4F4A-8F59-1812301B7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0688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-6.sv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-3-4.svg"/><Relationship Id="rId5" Type="http://schemas.openxmlformats.org/officeDocument/2006/relationships/image" Target="../media/image4.png"/><Relationship Id="rId10" Type="http://schemas.openxmlformats.org/officeDocument/2006/relationships/image" Target="../media/image-3-8.svg"/><Relationship Id="rId4" Type="http://schemas.openxmlformats.org/officeDocument/2006/relationships/image" Target="../media/image-3-2.sv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-4-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-4-3.svg"/><Relationship Id="rId5" Type="http://schemas.openxmlformats.org/officeDocument/2006/relationships/image" Target="../media/image-4-3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-10-3.svg"/><Relationship Id="rId13" Type="http://schemas.openxmlformats.org/officeDocument/2006/relationships/image" Target="../media/image-10-13.svg"/><Relationship Id="rId3" Type="http://schemas.openxmlformats.org/officeDocument/2006/relationships/image" Target="../media/image14.jpeg"/><Relationship Id="rId7" Type="http://schemas.openxmlformats.org/officeDocument/2006/relationships/image" Target="../media/image-10-5.svg"/><Relationship Id="rId12" Type="http://schemas.openxmlformats.org/officeDocument/2006/relationships/image" Target="../media/image18.png"/><Relationship Id="rId17" Type="http://schemas.openxmlformats.org/officeDocument/2006/relationships/image" Target="../media/image-10-17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11" Type="http://schemas.openxmlformats.org/officeDocument/2006/relationships/image" Target="../media/image-10-3.svg"/><Relationship Id="rId5" Type="http://schemas.openxmlformats.org/officeDocument/2006/relationships/image" Target="../media/image-10-3.svg"/><Relationship Id="rId15" Type="http://schemas.openxmlformats.org/officeDocument/2006/relationships/image" Target="../media/image-10-3.svg"/><Relationship Id="rId10" Type="http://schemas.openxmlformats.org/officeDocument/2006/relationships/image" Target="../media/image-10-9.svg"/><Relationship Id="rId4" Type="http://schemas.openxmlformats.org/officeDocument/2006/relationships/image" Target="../media/image15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9483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Software Supply Chain Risk Analyzer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9340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automated SBOM analysis platform that detects vulnerabilities, license conflicts, and outdated dependencies — delivering an actionable risk score for modern enterprise applications.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433316"/>
            <a:ext cx="1629445" cy="215354"/>
          </a:xfrm>
          <a:prstGeom prst="roundRect">
            <a:avLst>
              <a:gd name="adj" fmla="val 7900"/>
            </a:avLst>
          </a:prstGeom>
          <a:solidFill>
            <a:srgbClr val="110745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475806"/>
            <a:ext cx="191653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HACKATHON SUBMISSION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196405" y="3433316"/>
            <a:ext cx="2420913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1461" y="3475806"/>
            <a:ext cx="270800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TRACK: THIRD-PARTY &amp; SOFTWARE RISK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413" y="-171880"/>
            <a:ext cx="3653590" cy="54803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58688"/>
            <a:ext cx="4722763" cy="6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Problem: Hidden Risk in Your Supply Chain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496119" y="1280666"/>
            <a:ext cx="472276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enterprise applications depend on hundreds of third-party open-source libraries. When a critical vulnerability is disclosed, organizations face a dangerous gap in visibility.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96119" y="1693515"/>
            <a:ext cx="4722763" cy="761851"/>
          </a:xfrm>
          <a:prstGeom prst="roundRect">
            <a:avLst>
              <a:gd name="adj" fmla="val 2181"/>
            </a:avLst>
          </a:prstGeom>
          <a:solidFill>
            <a:srgbClr val="4C5052"/>
          </a:solidFill>
          <a:ln/>
        </p:spPr>
      </p:sp>
      <p:sp>
        <p:nvSpPr>
          <p:cNvPr id="6" name="Text 3"/>
          <p:cNvSpPr/>
          <p:nvPr/>
        </p:nvSpPr>
        <p:spPr>
          <a:xfrm>
            <a:off x="606847" y="1804243"/>
            <a:ext cx="4501307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Slow Identification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06847" y="2029123"/>
            <a:ext cx="4501307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cannot quickly identify which applications are affected by a newly disclosed CVE.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96119" y="2541836"/>
            <a:ext cx="4722763" cy="761851"/>
          </a:xfrm>
          <a:prstGeom prst="roundRect">
            <a:avLst>
              <a:gd name="adj" fmla="val 2181"/>
            </a:avLst>
          </a:prstGeom>
          <a:solidFill>
            <a:srgbClr val="4C5052"/>
          </a:solidFill>
          <a:ln/>
        </p:spPr>
      </p:sp>
      <p:sp>
        <p:nvSpPr>
          <p:cNvPr id="9" name="Text 6"/>
          <p:cNvSpPr/>
          <p:nvPr/>
        </p:nvSpPr>
        <p:spPr>
          <a:xfrm>
            <a:off x="606847" y="2652564"/>
            <a:ext cx="4501307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Hidden Dependencies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06847" y="2877443"/>
            <a:ext cx="4501307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Transitive dependencies remain invisible, leaving critical attack surfaces unmonitored.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96119" y="3390156"/>
            <a:ext cx="4722763" cy="604093"/>
          </a:xfrm>
          <a:prstGeom prst="roundRect">
            <a:avLst>
              <a:gd name="adj" fmla="val 2750"/>
            </a:avLst>
          </a:prstGeom>
          <a:solidFill>
            <a:srgbClr val="4C5052"/>
          </a:solidFill>
          <a:ln/>
        </p:spPr>
      </p:sp>
      <p:sp>
        <p:nvSpPr>
          <p:cNvPr id="12" name="Text 9"/>
          <p:cNvSpPr/>
          <p:nvPr/>
        </p:nvSpPr>
        <p:spPr>
          <a:xfrm>
            <a:off x="606847" y="3500884"/>
            <a:ext cx="4501307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Manual &amp; Error-Prone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6847" y="3725763"/>
            <a:ext cx="450130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dependency tracking is slow, inconsistent, and prone to human error.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96119" y="4080718"/>
            <a:ext cx="4722763" cy="604093"/>
          </a:xfrm>
          <a:prstGeom prst="roundRect">
            <a:avLst>
              <a:gd name="adj" fmla="val 2750"/>
            </a:avLst>
          </a:prstGeom>
          <a:solidFill>
            <a:srgbClr val="4C5052"/>
          </a:solidFill>
          <a:ln/>
        </p:spPr>
      </p:sp>
      <p:sp>
        <p:nvSpPr>
          <p:cNvPr id="15" name="Text 12"/>
          <p:cNvSpPr/>
          <p:nvPr/>
        </p:nvSpPr>
        <p:spPr>
          <a:xfrm>
            <a:off x="606847" y="4191446"/>
            <a:ext cx="4501307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License &amp; Compliance Risk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6847" y="4416326"/>
            <a:ext cx="450130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Incompatible licenses create legal exposure that goes undetected until it's too late.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935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Project Objectives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6585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 automates the full SBOM analysis pipeline — from ingestion to risk scoring — giving security teams the visibility they need to act fast.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96119" y="1878955"/>
            <a:ext cx="283518" cy="283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339653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Automate SBOM Ingestion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646164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 and process SBOM files automatically, eliminating manual data entry.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660553" y="1878955"/>
            <a:ext cx="283518" cy="283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0553" y="2339653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Detect Vulnerabilities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660553" y="2646164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dependencies against known CVE databases to flag risky libraries.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496119" y="3383310"/>
            <a:ext cx="283518" cy="283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844007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Check License Compliance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96119" y="4150519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incompatible or restrictive licenses across the dependency tree.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4660553" y="3383310"/>
            <a:ext cx="283518" cy="283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0553" y="3844007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Visualize Risk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660553" y="4150519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interactive dashboards with charts and an overall risk score.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678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Our Solution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10233"/>
            <a:ext cx="5211589" cy="29531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61013" y="2176760"/>
            <a:ext cx="2691557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8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Software Supply Chain Risk Analyzer</a:t>
            </a: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a web-based platform that automates dependency analysis from SBOM upload to risk report — in seconds.</a:t>
            </a:r>
            <a:endParaRPr lang="en-US" sz="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96119" y="4028182"/>
            <a:ext cx="2668414" cy="71556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9429" y="4144342"/>
            <a:ext cx="23789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SBOM Upload &amp; Parsing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69429" y="4347493"/>
            <a:ext cx="2378943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Accepts CSV-formatted SBOM files for instant analysis.</a:t>
            </a:r>
            <a:endParaRPr lang="en-US" sz="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237756" y="4028182"/>
            <a:ext cx="2668414" cy="71556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11066" y="4144342"/>
            <a:ext cx="23789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Multi-Layer Risk Detection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3411066" y="4347493"/>
            <a:ext cx="2378943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Simultaneously checks for vulnerabilities, outdated libraries, and license conflicts.</a:t>
            </a:r>
            <a:endParaRPr lang="en-US" sz="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979393" y="4028182"/>
            <a:ext cx="2668488" cy="71556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52704" y="4144342"/>
            <a:ext cx="2379018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Interactive Risk Dashboard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6152704" y="4347493"/>
            <a:ext cx="2379018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charts, risk scores, and prioritized security recommendations.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362"/>
            <a:ext cx="815176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System Architecture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33810"/>
            <a:ext cx="8151763" cy="35758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66551" y="3507493"/>
            <a:ext cx="1232034" cy="22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Flask Ingest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966551" y="3790838"/>
            <a:ext cx="1232034" cy="297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 CSV and load JSON DBs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80432" y="3507493"/>
            <a:ext cx="1232034" cy="22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80432" y="3790838"/>
            <a:ext cx="1232034" cy="297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charts and report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2751" y="1155194"/>
            <a:ext cx="1232034" cy="22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 Upload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52751" y="1438539"/>
            <a:ext cx="1232034" cy="297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SBOM CSV file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50944" y="1155194"/>
            <a:ext cx="1232034" cy="22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Risk Engine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950944" y="1438539"/>
            <a:ext cx="1232034" cy="446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deps and compute scores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6119" y="4485010"/>
            <a:ext cx="8151763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Flask backend orchestrates the full pipeline — ingesting SBOM CSVs, cross-referencing JSON metadata databases, running the risk engine, and rendering results through an interactive dashboard.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Technology Stack</a:t>
            </a:r>
            <a:endParaRPr lang="en-US" sz="2000" b="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1149" y="1759895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Why These Tools?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661149" y="2066052"/>
            <a:ext cx="44439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technology was chosen for simplicity, speed, and hackathon readiness.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661148" y="2333369"/>
            <a:ext cx="3986733" cy="3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9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+ Flask</a:t>
            </a: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Rapid backend development with minimal boilerplate</a:t>
            </a:r>
            <a:endParaRPr lang="en-US" sz="9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9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Chart.js</a:t>
            </a: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Lightweight, responsive charts for risk visualization</a:t>
            </a:r>
            <a:endParaRPr lang="en-US" sz="9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9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JSON / CSV</a:t>
            </a: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Standard formats for SBOM data and metadata</a:t>
            </a:r>
            <a:endParaRPr lang="en-US" sz="9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9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Vanilla JS</a:t>
            </a:r>
            <a:r>
              <a:rPr lang="en-US" sz="9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 heavy framework overhead for the frontend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0932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System Workflow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963885"/>
            <a:ext cx="451842" cy="677763"/>
          </a:xfrm>
          <a:prstGeom prst="roundRect">
            <a:avLst>
              <a:gd name="adj" fmla="val 360033"/>
            </a:avLst>
          </a:prstGeom>
          <a:solidFill>
            <a:srgbClr val="4C5052"/>
          </a:solidFill>
          <a:ln/>
        </p:spPr>
      </p:sp>
      <p:sp>
        <p:nvSpPr>
          <p:cNvPr id="4" name="Text 2"/>
          <p:cNvSpPr/>
          <p:nvPr/>
        </p:nvSpPr>
        <p:spPr>
          <a:xfrm>
            <a:off x="637282" y="1196876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7927" y="1076846"/>
            <a:ext cx="760995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Upload SBOM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37927" y="1307306"/>
            <a:ext cx="7609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uploads a CSV-formatted SBOM file through the web interface.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96119" y="1731615"/>
            <a:ext cx="451842" cy="677763"/>
          </a:xfrm>
          <a:prstGeom prst="roundRect">
            <a:avLst>
              <a:gd name="adj" fmla="val 360033"/>
            </a:avLst>
          </a:prstGeom>
          <a:solidFill>
            <a:srgbClr val="4C5052"/>
          </a:solidFill>
          <a:ln/>
        </p:spPr>
      </p:sp>
      <p:sp>
        <p:nvSpPr>
          <p:cNvPr id="8" name="Text 6"/>
          <p:cNvSpPr/>
          <p:nvPr/>
        </p:nvSpPr>
        <p:spPr>
          <a:xfrm>
            <a:off x="637282" y="1964606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37927" y="1844576"/>
            <a:ext cx="760995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Parse &amp; Load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37927" y="2075036"/>
            <a:ext cx="7609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 parses the CSV and loads JSON vulnerability and license databases.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96119" y="2499345"/>
            <a:ext cx="451842" cy="677763"/>
          </a:xfrm>
          <a:prstGeom prst="roundRect">
            <a:avLst>
              <a:gd name="adj" fmla="val 360033"/>
            </a:avLst>
          </a:prstGeom>
          <a:solidFill>
            <a:srgbClr val="4C5052"/>
          </a:solidFill>
          <a:ln/>
        </p:spPr>
      </p:sp>
      <p:sp>
        <p:nvSpPr>
          <p:cNvPr id="12" name="Text 10"/>
          <p:cNvSpPr/>
          <p:nvPr/>
        </p:nvSpPr>
        <p:spPr>
          <a:xfrm>
            <a:off x="637282" y="2732336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37927" y="2612306"/>
            <a:ext cx="760995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Analyze Dependencies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37927" y="2842766"/>
            <a:ext cx="7609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risk engine cross-references each library against known CVEs, versions, and licenses.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6119" y="3267075"/>
            <a:ext cx="451842" cy="677763"/>
          </a:xfrm>
          <a:prstGeom prst="roundRect">
            <a:avLst>
              <a:gd name="adj" fmla="val 360033"/>
            </a:avLst>
          </a:prstGeom>
          <a:solidFill>
            <a:srgbClr val="4C5052"/>
          </a:solidFill>
          <a:ln/>
        </p:spPr>
      </p:sp>
      <p:sp>
        <p:nvSpPr>
          <p:cNvPr id="16" name="Text 14"/>
          <p:cNvSpPr/>
          <p:nvPr/>
        </p:nvSpPr>
        <p:spPr>
          <a:xfrm>
            <a:off x="637282" y="3500065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37927" y="3380036"/>
            <a:ext cx="760995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Detect Risks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37927" y="3610496"/>
            <a:ext cx="7609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 vulnerable, outdated, and license-conflicting libraries automatically.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6119" y="4034805"/>
            <a:ext cx="451842" cy="677763"/>
          </a:xfrm>
          <a:prstGeom prst="roundRect">
            <a:avLst>
              <a:gd name="adj" fmla="val 360033"/>
            </a:avLst>
          </a:prstGeom>
          <a:solidFill>
            <a:srgbClr val="4C5052"/>
          </a:solidFill>
          <a:ln/>
        </p:spPr>
      </p:sp>
      <p:sp>
        <p:nvSpPr>
          <p:cNvPr id="20" name="Text 18"/>
          <p:cNvSpPr/>
          <p:nvPr/>
        </p:nvSpPr>
        <p:spPr>
          <a:xfrm>
            <a:off x="637282" y="4267795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37927" y="4147765"/>
            <a:ext cx="760995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Score &amp; Report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37927" y="4378226"/>
            <a:ext cx="7609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Calculates an overall risk score and renders the interactive dashboard.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481"/>
            <a:ext cx="8151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Dashboard &amp; Risk Visualization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940594"/>
            <a:ext cx="86089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dashboard gives security teams an at-a-glance view of application risk, with charts that make prioritization intuitive.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82154"/>
            <a:ext cx="3940820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Sample Risk Distribution</a:t>
            </a:r>
            <a:endParaRPr lang="en-US" sz="1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52501"/>
            <a:ext cx="3940820" cy="28365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4486424"/>
            <a:ext cx="439802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for illustration. Actual values depend on the uploaded SBOM.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711824" y="1282154"/>
            <a:ext cx="3940820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Dashboard Metrics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11824" y="1541636"/>
            <a:ext cx="3940820" cy="1067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9000"/>
              </a:lnSpc>
              <a:buSzPct val="100000"/>
              <a:buChar char="•"/>
            </a:pPr>
            <a:r>
              <a:rPr lang="en-US" sz="8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Libraries</a:t>
            </a: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Full inventory of all dependencies</a:t>
            </a:r>
            <a:endParaRPr lang="en-US" sz="850" dirty="0"/>
          </a:p>
          <a:p>
            <a:pPr marL="172720" indent="-172720" algn="l">
              <a:lnSpc>
                <a:spcPct val="119000"/>
              </a:lnSpc>
              <a:buSzPct val="100000"/>
              <a:buChar char="•"/>
            </a:pPr>
            <a:r>
              <a:rPr lang="en-US" sz="8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 Libraries</a:t>
            </a: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CVE-flagged components requiring immediate action</a:t>
            </a:r>
            <a:endParaRPr lang="en-US" sz="850" dirty="0"/>
          </a:p>
          <a:p>
            <a:pPr marL="172720" indent="-172720" algn="l">
              <a:lnSpc>
                <a:spcPct val="119000"/>
              </a:lnSpc>
              <a:buSzPct val="100000"/>
              <a:buChar char="•"/>
            </a:pPr>
            <a:r>
              <a:rPr lang="en-US" sz="8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Outdated Libraries</a:t>
            </a: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Versions behind the latest secure release</a:t>
            </a:r>
            <a:endParaRPr lang="en-US" sz="850" dirty="0"/>
          </a:p>
          <a:p>
            <a:pPr marL="172720" indent="-172720" algn="l">
              <a:lnSpc>
                <a:spcPct val="119000"/>
              </a:lnSpc>
              <a:buSzPct val="100000"/>
              <a:buChar char="•"/>
            </a:pPr>
            <a:r>
              <a:rPr lang="en-US" sz="8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License Conflicts</a:t>
            </a: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Incompatible or restrictive license terms</a:t>
            </a:r>
            <a:endParaRPr lang="en-US" sz="850" dirty="0"/>
          </a:p>
          <a:p>
            <a:pPr marL="172720" indent="-172720" algn="l">
              <a:lnSpc>
                <a:spcPct val="119000"/>
              </a:lnSpc>
              <a:buSzPct val="100000"/>
              <a:buChar char="•"/>
            </a:pPr>
            <a:r>
              <a:rPr lang="en-US" sz="8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Overall Risk Score</a:t>
            </a: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Composite score for executive reporting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979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Results &amp; Benefits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03275"/>
            <a:ext cx="3908375" cy="2813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166146"/>
            <a:ext cx="390837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Relative impact scores for illustration — not benchmarked data.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744269" y="1186607"/>
            <a:ext cx="39083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What We Delivered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744269" y="1534120"/>
            <a:ext cx="3908375" cy="1916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vulnerable libraries against known CVE databases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 outdated dependencies before they become exploits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incompatible licenses to reduce legal exposure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a composite risk score for prioritization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interactive charts and actionable recommendations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744269" y="3600376"/>
            <a:ext cx="3908375" cy="957039"/>
          </a:xfrm>
          <a:prstGeom prst="roundRect">
            <a:avLst>
              <a:gd name="adj" fmla="val 2153"/>
            </a:avLst>
          </a:prstGeom>
          <a:solidFill>
            <a:srgbClr val="183A13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563" y="3808958"/>
            <a:ext cx="171599" cy="1372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90455" y="3754413"/>
            <a:ext cx="3324895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Win: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Faster vulnerability identification with dramatically reduced manual effort — improving software supply chain security end-to-end.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1825"/>
            <a:ext cx="4722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Future Scope &amp; Conclusion</a:t>
            </a:r>
            <a:endParaRPr lang="en-US" sz="2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925119" y="895648"/>
            <a:ext cx="4722763" cy="651197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075063" y="1139800"/>
            <a:ext cx="162744" cy="16274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456584" y="1018431"/>
            <a:ext cx="406851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Real-Time NVD API</a:t>
            </a:r>
            <a:endParaRPr lang="en-US" sz="1050" dirty="0"/>
          </a:p>
        </p:txBody>
      </p:sp>
      <p:sp>
        <p:nvSpPr>
          <p:cNvPr id="7" name="Text 2"/>
          <p:cNvSpPr/>
          <p:nvPr/>
        </p:nvSpPr>
        <p:spPr>
          <a:xfrm>
            <a:off x="4456584" y="1237804"/>
            <a:ext cx="406851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CVE feeds for up-to-the-minute vulnerability detection.</a:t>
            </a:r>
            <a:endParaRPr lang="en-US" sz="8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3925119" y="1629891"/>
            <a:ext cx="4722763" cy="651197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4075063" y="1874044"/>
            <a:ext cx="162744" cy="162744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4456584" y="1752674"/>
            <a:ext cx="406851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 Remediation</a:t>
            </a:r>
            <a:endParaRPr lang="en-US" sz="1050" dirty="0"/>
          </a:p>
        </p:txBody>
      </p:sp>
      <p:sp>
        <p:nvSpPr>
          <p:cNvPr id="11" name="Text 4"/>
          <p:cNvSpPr/>
          <p:nvPr/>
        </p:nvSpPr>
        <p:spPr>
          <a:xfrm>
            <a:off x="4456584" y="1972047"/>
            <a:ext cx="406851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ML-based suggestions to prioritize and fix the highest-risk dependencies.</a:t>
            </a:r>
            <a:endParaRPr lang="en-US" sz="85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3925119" y="2364135"/>
            <a:ext cx="4722763" cy="651197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4075063" y="2608287"/>
            <a:ext cx="162744" cy="162744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4456584" y="2486918"/>
            <a:ext cx="406851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GitHub Integration</a:t>
            </a:r>
            <a:endParaRPr lang="en-US" sz="1050" dirty="0"/>
          </a:p>
        </p:txBody>
      </p:sp>
      <p:sp>
        <p:nvSpPr>
          <p:cNvPr id="15" name="Text 6"/>
          <p:cNvSpPr/>
          <p:nvPr/>
        </p:nvSpPr>
        <p:spPr>
          <a:xfrm>
            <a:off x="4456584" y="2706291"/>
            <a:ext cx="406851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SBOM scanning on every pull request and release.</a:t>
            </a:r>
            <a:endParaRPr lang="en-US" sz="85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3925119" y="3098378"/>
            <a:ext cx="4722763" cy="651197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4075063" y="3342531"/>
            <a:ext cx="162744" cy="162744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4456584" y="3221162"/>
            <a:ext cx="406851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Cloud Deployment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4456584" y="3440534"/>
            <a:ext cx="406851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SaaS model with email alerts and PDF report generation.</a:t>
            </a:r>
            <a:endParaRPr lang="en-US" sz="850" dirty="0"/>
          </a:p>
        </p:txBody>
      </p:sp>
      <p:sp>
        <p:nvSpPr>
          <p:cNvPr id="20" name="Shape 9"/>
          <p:cNvSpPr/>
          <p:nvPr/>
        </p:nvSpPr>
        <p:spPr>
          <a:xfrm>
            <a:off x="3925119" y="3870127"/>
            <a:ext cx="4722763" cy="14288"/>
          </a:xfrm>
          <a:prstGeom prst="roundRect">
            <a:avLst>
              <a:gd name="adj" fmla="val 59998"/>
            </a:avLst>
          </a:prstGeom>
          <a:solidFill>
            <a:srgbClr val="D6D9D7">
              <a:alpha val="50000"/>
            </a:srgbClr>
          </a:solidFill>
          <a:ln/>
        </p:spPr>
      </p:sp>
      <p:sp>
        <p:nvSpPr>
          <p:cNvPr id="21" name="Text 10"/>
          <p:cNvSpPr/>
          <p:nvPr/>
        </p:nvSpPr>
        <p:spPr>
          <a:xfrm>
            <a:off x="3925119" y="4004965"/>
            <a:ext cx="4722763" cy="706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8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Software Supply Chain Risk Analyzer</a:t>
            </a: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automates dependency risk identification — delivering vulnerability detection, license compliance, and an interactive risk dashboard in a single workflow.</a:t>
            </a:r>
            <a:endParaRPr lang="en-US" sz="8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 — Questions &amp; Discussion welcome.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732</Words>
  <Application>Microsoft Office PowerPoint</Application>
  <PresentationFormat>On-screen Show (16:9)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DM Sans Medium</vt:lpstr>
      <vt:lpstr>Inter Bold</vt:lpstr>
      <vt:lpstr>Arial</vt:lpstr>
      <vt:lpstr>Calibri Light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Microsoft account</cp:lastModifiedBy>
  <cp:revision>2</cp:revision>
  <dcterms:created xsi:type="dcterms:W3CDTF">2026-07-12T14:19:43Z</dcterms:created>
  <dcterms:modified xsi:type="dcterms:W3CDTF">2026-07-12T14:26:12Z</dcterms:modified>
</cp:coreProperties>
</file>